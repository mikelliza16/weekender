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WEEKENDER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 Planificador de Viajes Inteligente</a:t>
            </a:r>
          </a:p>
          <a:p>
            <a:r>
              <a:t>Proyecto Full-Stack Data Engineering &amp;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El Problema: 'Parálisis por Análisis'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/>
            </a:pPr>
            <a:r>
              <a:t>• Planificar un fin de semana conlleva horas de búsqueda.</a:t>
            </a:r>
          </a:p>
          <a:p>
            <a:pPr>
              <a:spcAft>
                <a:spcPts val="1400"/>
              </a:spcAft>
              <a:defRPr sz="2400"/>
            </a:pPr>
            <a:r>
              <a:t>• Demasiada información dispersa (vuelos, hoteles, blogs).</a:t>
            </a:r>
          </a:p>
          <a:p>
            <a:pPr>
              <a:spcAft>
                <a:spcPts val="1400"/>
              </a:spcAft>
              <a:defRPr sz="2400"/>
            </a:pPr>
            <a:r>
              <a:t>• Dificultad para ajustar planes a un presupuesto fijo.</a:t>
            </a:r>
          </a:p>
          <a:p>
            <a:pPr>
              <a:spcAft>
                <a:spcPts val="1400"/>
              </a:spcAft>
              <a:defRPr sz="2400"/>
            </a:pPr>
            <a:r>
              <a:t>• SOLUCIÓN: Un asistente que personaliza itinerarios en segundos.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Arquitectura Tecnológica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/>
            </a:pPr>
            <a:r>
              <a:t>FRONTEND (La Interfaz):</a:t>
            </a:r>
          </a:p>
          <a:p>
            <a:pPr>
              <a:spcAft>
                <a:spcPts val="1400"/>
              </a:spcAft>
              <a:defRPr sz="2400"/>
            </a:pPr>
            <a:r>
              <a:t>   - Python Streamlit + Custom CSS.</a:t>
            </a:r>
          </a:p>
          <a:p>
            <a:pPr>
              <a:spcAft>
                <a:spcPts val="1400"/>
              </a:spcAft>
              <a:defRPr sz="2400"/>
            </a:pPr>
            <a:r>
              <a:t>   - Gestión de estado (Session State) para el chat.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BACKEND (El Motor):</a:t>
            </a:r>
          </a:p>
          <a:p>
            <a:pPr>
              <a:spcAft>
                <a:spcPts val="1400"/>
              </a:spcAft>
              <a:defRPr sz="2400"/>
            </a:pPr>
            <a:r>
              <a:t>   - Flask API (RESTful Service).</a:t>
            </a:r>
          </a:p>
          <a:p>
            <a:pPr>
              <a:spcAft>
                <a:spcPts val="1400"/>
              </a:spcAft>
              <a:defRPr sz="2400"/>
            </a:pPr>
            <a:r>
              <a:t>   - Orquestación de lógica y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IA Generativa y Persistencia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/>
            </a:pPr>
            <a:r>
              <a:t>INTELIGENCIA ARTIFICIAL (LLM):</a:t>
            </a:r>
          </a:p>
          <a:p>
            <a:pPr>
              <a:spcAft>
                <a:spcPts val="1400"/>
              </a:spcAft>
              <a:defRPr sz="2400"/>
            </a:pPr>
            <a:r>
              <a:t>   - API de Groq (Modelo Llama-3.3-70b).</a:t>
            </a:r>
          </a:p>
          <a:p>
            <a:pPr>
              <a:spcAft>
                <a:spcPts val="1400"/>
              </a:spcAft>
              <a:defRPr sz="2400"/>
            </a:pPr>
            <a:r>
              <a:t>   - Inferencia de ultra-baja latencia.</a:t>
            </a:r>
          </a:p>
          <a:p>
            <a:pPr>
              <a:spcAft>
                <a:spcPts val="1400"/>
              </a:spcAft>
              <a:defRPr sz="2400"/>
            </a:pPr>
            <a:r>
              <a:t>   - Prompt Engineering (System &amp; User prompts).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BASE DE DATOS:</a:t>
            </a:r>
          </a:p>
          <a:p>
            <a:pPr>
              <a:spcAft>
                <a:spcPts val="1400"/>
              </a:spcAft>
              <a:defRPr sz="2400"/>
            </a:pPr>
            <a:r>
              <a:t>   - PostgreSQL (Alojada en Render Cloud).</a:t>
            </a:r>
          </a:p>
          <a:p>
            <a:pPr>
              <a:spcAft>
                <a:spcPts val="1400"/>
              </a:spcAft>
              <a:defRPr sz="2400"/>
            </a:pPr>
            <a:r>
              <a:t>   - Almacenamiento de logs e historial de usuarios.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Flujo de Datos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/>
            </a:pPr>
            <a:r>
              <a:t>1. INGESTA: Usuario envía destino y presupuesto (Streamlit).</a:t>
            </a:r>
          </a:p>
          <a:p>
            <a:pPr>
              <a:spcAft>
                <a:spcPts val="1400"/>
              </a:spcAft>
              <a:defRPr sz="2400"/>
            </a:pPr>
            <a:r>
              <a:t>2. PROCESADO: Flask recibe JSON y construye el prompt.</a:t>
            </a:r>
          </a:p>
          <a:p>
            <a:pPr>
              <a:spcAft>
                <a:spcPts val="1400"/>
              </a:spcAft>
              <a:defRPr sz="2400"/>
            </a:pPr>
            <a:r>
              <a:t>3. INFERENCIA: Groq genera el itinerario estructurado.</a:t>
            </a:r>
          </a:p>
          <a:p>
            <a:pPr>
              <a:spcAft>
                <a:spcPts val="1400"/>
              </a:spcAft>
              <a:defRPr sz="2400"/>
            </a:pPr>
            <a:r>
              <a:t>4. PERSISTENCIA: Se guarda la interacción en PostgreSQL.</a:t>
            </a:r>
          </a:p>
          <a:p>
            <a:pPr>
              <a:spcAft>
                <a:spcPts val="1400"/>
              </a:spcAft>
              <a:defRPr sz="2400"/>
            </a:pPr>
            <a:r>
              <a:t>5. RESPUESTA: El itinerario se muestra en el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Infraestructura &amp;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/>
            </a:pPr>
            <a:r>
              <a:t>• DOCKERIZACIÓN:</a:t>
            </a:r>
          </a:p>
          <a:p>
            <a:pPr>
              <a:spcAft>
                <a:spcPts val="1400"/>
              </a:spcAft>
              <a:defRPr sz="2400"/>
            </a:pPr>
            <a:r>
              <a:t>   - Contenedor único con Python 3.9-slim.</a:t>
            </a:r>
          </a:p>
          <a:p>
            <a:pPr>
              <a:spcAft>
                <a:spcPts val="1400"/>
              </a:spcAft>
              <a:defRPr sz="2400"/>
            </a:pPr>
            <a:r>
              <a:t>   - Script de arranque dual (Flask + Streamlit).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• GESTIÓN DE ENTORNO:</a:t>
            </a:r>
          </a:p>
          <a:p>
            <a:pPr>
              <a:spcAft>
                <a:spcPts val="1400"/>
              </a:spcAft>
              <a:defRPr sz="2400"/>
            </a:pPr>
            <a:r>
              <a:t>   - Variables de entorno (.env) para seguridad de API Keys.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• TESTING:</a:t>
            </a:r>
          </a:p>
          <a:p>
            <a:pPr>
              <a:spcAft>
                <a:spcPts val="1400"/>
              </a:spcAft>
              <a:defRPr sz="2400"/>
            </a:pPr>
            <a:r>
              <a:t>   - Tests automatizados de endpoints (Pytest).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Demostración del sistema en tiempo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